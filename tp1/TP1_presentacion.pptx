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C8FBA0-7253-475C-AE96-1F3D5A0861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6585C9-021A-4C0C-8D87-555289944C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E5ED289-A0F6-47FC-B7D7-68787B33A8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BBB3BFE-D520-4FE3-B075-210C753EBA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EEBAB9D-60E2-42BA-9A08-50068170E2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BF8A3D2-0A41-4413-9702-D40C9E0CE2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6645939-4FF3-444D-A35D-839C050D07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64101BC-AB6D-4F18-828A-111A703798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AB73C2A-2E64-4469-B71A-7CD1C7F05E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E189831-082A-4F03-91D3-F5B87E9ED8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BF731FC-D981-425F-8336-00FE790DF9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A38575-CCF0-488B-BC2F-3264C9AAD8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A73A67-8AC5-4634-9C3E-F3F12ECD02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51958F-EFC2-4785-B02C-FB01E15C30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5C8811-BD5C-4BD7-8A0F-88AE93AA6D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7DDDE6-EAB5-4F05-A861-A5437218EB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BD8715-8617-4641-936D-0F914BCC04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8637F8-6D78-459F-853D-CD8B100151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BCC8F4-856D-4C4E-AF08-2B517813D4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B3E9D1-5FDF-4622-92C8-43DC4AA63C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489E18-3672-496C-9BC5-6F7885A3BA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AF64A5-4889-431E-8590-31892F7F3F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3017520"/>
            <a:ext cx="12191400" cy="45360"/>
          </a:xfrm>
          <a:prstGeom prst="rect">
            <a:avLst/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20000" y="999720"/>
            <a:ext cx="10698120" cy="13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Reservas de Hotel: 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¿quien cancela y por que?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31520" y="3291840"/>
            <a:ext cx="10698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ccddee"/>
                </a:solidFill>
                <a:latin typeface="Calibri"/>
              </a:rPr>
              <a:t>Analisis sobre 119.000 reservas reales de dos hoteles en Portugal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ccddee"/>
                </a:solidFill>
                <a:latin typeface="Calibri"/>
              </a:rPr>
              <a:t>Marcelo Vieira  |  Diplomatura en Inteligencia Artificial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De que vamos a hablar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731520" y="1188720"/>
            <a:ext cx="10515240" cy="37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8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El problema: cancelaciones que nos cuestan plata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8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Que datos tenemos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8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Como los preparamos antes de analizarlos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8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Que nos muestran cuando los miramos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8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Cinco preguntas que les hicimos a los datos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8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Que aprendimos y que podemos hacer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El problema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731520" y="1188720"/>
            <a:ext cx="109724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a5f"/>
                </a:solidFill>
                <a:latin typeface="Calibri"/>
              </a:rPr>
              <a:t>La situacion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731520" y="1737360"/>
            <a:ext cx="10972440" cy="12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4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Dos hoteles en Portugal: uno en la ciudad, otro tipo resort en la playa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4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Tres anos de reservas (2015-2017): casi 120.000 en total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4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Una de cada cuatro reservas se cancela. Eso es mucha plata y mucha habitacion vacia.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731520" y="4023360"/>
            <a:ext cx="109724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a5f"/>
                </a:solidFill>
                <a:latin typeface="Calibri"/>
              </a:rPr>
              <a:t>Las preguntas que queremos contestar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731520" y="4572000"/>
            <a:ext cx="1097244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4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¿Que tipo de reserva tiene mas chances de cancelarse?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4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¿Podemos anticiparnos para perder menos?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Las cinco preguntas que les hicimos a los datos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731520" y="1188720"/>
            <a:ext cx="10972440" cy="29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90000"/>
              </a:lnSpc>
            </a:pP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¿Donde se cancela mas: en Booking o reservando directo al hotel?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90000"/>
              </a:lnSpc>
            </a:pP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¿Los que piden cosas especiales (cuna, vista) cancelan menos?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90000"/>
              </a:lnSpc>
            </a:pP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¿Reservar con mucha anticipacion aumenta las chances de cancelar?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90000"/>
              </a:lnSpc>
            </a:pP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¿Los clientes que ya vinieron antes son mas confiables?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90000"/>
              </a:lnSpc>
            </a:pP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000" spc="-1" strike="noStrike">
                <a:solidFill>
                  <a:srgbClr val="555555"/>
                </a:solidFill>
                <a:latin typeface="Calibri"/>
              </a:rPr>
              <a:t>¿Los precios cambian segun la epoca del anio? ¿Cambian distinto en cada hotel?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731520" y="6126480"/>
            <a:ext cx="10972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e76f51"/>
                </a:solidFill>
                <a:latin typeface="Calibri"/>
              </a:rPr>
              <a:t>Cada pregunta esta pensada para poder TOMAR UNA DECISION concreta al responderla.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2286000"/>
            <a:ext cx="182844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0" spc="-1" strike="noStrike">
                <a:solidFill>
                  <a:srgbClr val="2e86ab"/>
                </a:solidFill>
                <a:latin typeface="Calibri"/>
              </a:rPr>
              <a:t>01</a:t>
            </a:r>
            <a:endParaRPr b="0" lang="es-AR" sz="1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2743200" y="2926080"/>
            <a:ext cx="86864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Preparando los datos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Como preparamos los datos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31520" y="1188720"/>
            <a:ext cx="109724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a5f"/>
                </a:solidFill>
                <a:latin typeface="Calibri"/>
              </a:rPr>
              <a:t>Antes de analizar, hay que limpiar.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731520" y="1828800"/>
            <a:ext cx="10972440" cy="27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6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Abrir el archivo y verificar que tiene todo lo que esperamos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Detectar celdas vacias y decidir que hacer con cada una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Eliminar filas repetidas (habia muchas)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Sacar datos imposibles: precios negativos, reservas sin huespedes, etc.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Armar columnas calculadas que nos sirven (fecha unica, total de noches, etc.)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Recien aca: empezar a analizar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Celdas vacias: cuatro casos, cuatro decisiones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731520" y="1097280"/>
            <a:ext cx="109724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555555"/>
                </a:solidFill>
                <a:latin typeface="Calibri"/>
              </a:rPr>
              <a:t>Cada vacio significa algo distinto. Por eso no se puede borrar todo igual.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4" name="Table 4"/>
          <p:cNvGraphicFramePr/>
          <p:nvPr/>
        </p:nvGraphicFramePr>
        <p:xfrm>
          <a:off x="548640" y="1828800"/>
          <a:ext cx="11155320" cy="292572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2011680"/>
                <a:gridCol w="5120640"/>
              </a:tblGrid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Columna</a:t>
                      </a:r>
                      <a:endParaRPr b="0" lang="es-A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Vacias</a:t>
                      </a:r>
                      <a:endParaRPr b="0" lang="es-A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% del total</a:t>
                      </a:r>
                      <a:endParaRPr b="0" lang="es-A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Que hicimos</a:t>
                      </a:r>
                      <a:endParaRPr b="0" lang="es-A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Por que</a:t>
                      </a:r>
                      <a:endParaRPr b="0" lang="es-AR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Empresa (company)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112.593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94 %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Pusimos 0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Casi nadie reserva via empresa: el vacio significa "es persona", no falta el dato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Agente (agent)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16.340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14 %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Pusimos 0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Vacio = la reserva se hizo sin agencia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Pais (country)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488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&lt; 1 %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Pusimos "Desconocido"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No se declaro al reservar, lo conservamos como categoria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Ninios (children)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4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&lt; 0,01 %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Pusimos 0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Casos sueltos, parecen errores de carga</a:t>
                      </a:r>
                      <a:endParaRPr b="0" lang="es-AR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95" name="TextBox 5"/>
          <p:cNvSpPr/>
          <p:nvPr/>
        </p:nvSpPr>
        <p:spPr>
          <a:xfrm>
            <a:off x="731520" y="5120640"/>
            <a:ext cx="10972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e76f51"/>
                </a:solidFill>
                <a:latin typeface="Calibri"/>
              </a:rPr>
              <a:t>Si borrabamos todas las filas con vacios perdiamos el 94% del dataset. Por eso pensamos cada caso.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Filas repetidas: una de cada cuatro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731520" y="1097280"/>
            <a:ext cx="109724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a5f"/>
                </a:solidFill>
                <a:latin typeface="Calibri"/>
              </a:rPr>
              <a:t>Lo que encontramos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731520" y="1645920"/>
            <a:ext cx="1097244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El 27% de las filas estaban exactamente duplicadas (unas 32.000)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El archivo no tiene un "numero de reserva" unico para distinguirlas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5"/>
          <p:cNvSpPr/>
          <p:nvPr/>
        </p:nvSpPr>
        <p:spPr>
          <a:xfrm>
            <a:off x="731520" y="3657600"/>
            <a:ext cx="109724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3a5f"/>
                </a:solidFill>
                <a:latin typeface="Calibri"/>
              </a:rPr>
              <a:t>Que hicimos: eliminarlas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731520" y="4206240"/>
            <a:ext cx="10972440" cy="15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Que dos reservas coincidan en TODAS sus 32 columnas (incluida la fecha del ultimo movimiento) es practicamente imposible que sea casualidad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Asumimos error de carga del archivo y lo dejamos documentado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Quedamos con 87.000 reservas limpias para analizar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Columnas que creamos para facilitar el analisis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731520" y="5486400"/>
            <a:ext cx="10972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e76f51"/>
                </a:solidFill>
                <a:latin typeface="Calibri"/>
              </a:rPr>
              <a:t>La idea: si vamos a usar algo en varias partes, mejor calcularlo una vez.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5" name="Table 5"/>
          <p:cNvGraphicFramePr/>
          <p:nvPr/>
        </p:nvGraphicFramePr>
        <p:xfrm>
          <a:off x="548640" y="1371600"/>
          <a:ext cx="11155320" cy="365724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93192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Columna nueva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Como se calcula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 que sirve</a:t>
                      </a:r>
                      <a:endParaRPr b="0" lang="es-A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Fecha de llegada (arrival_date)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Juntamos anio + mes + dia en una fecha real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Poder ordenar cronologicamente y filtrar por epoca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Total de noches (total_nights)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Noches de semana + noches de finde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Saber cuanto se queda cada huesped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Total de huespedes (total_guests)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Adultos + ninios + bebes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Detectar reservas sin nadie (errores)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Mes ordenado (arrival_date_month)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Convertir el mes para que respete el orden del calendario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Que los graficos por mes salgan de enero a diciembre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Rangos de anticipacion (lead_time_bin)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Agrupar los dias en: 0-7, 8-30, 31-90...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555555"/>
                          </a:solidFill>
                          <a:latin typeface="Calibri"/>
                        </a:rPr>
                        <a:t>Mostrar el patron en barras claras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731520" y="2286000"/>
            <a:ext cx="182844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0" spc="-1" strike="noStrike">
                <a:solidFill>
                  <a:srgbClr val="2e86ab"/>
                </a:solidFill>
                <a:latin typeface="Calibri"/>
              </a:rPr>
              <a:t>02</a:t>
            </a:r>
            <a:endParaRPr b="0" lang="es-AR" sz="1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2743200" y="2926080"/>
            <a:ext cx="86864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Mirando los datos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¿Como se distribuyen las tres variables clave?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3"/>
          <p:cNvSpPr/>
          <p:nvPr/>
        </p:nvSpPr>
        <p:spPr>
          <a:xfrm>
            <a:off x="9784080" y="2286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Histograma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Picture 4" descr="cell_21.png"/>
          <p:cNvPicPr/>
          <p:nvPr/>
        </p:nvPicPr>
        <p:blipFill>
          <a:blip r:embed="rId1"/>
          <a:stretch/>
        </p:blipFill>
        <p:spPr>
          <a:xfrm>
            <a:off x="548640" y="1005840"/>
            <a:ext cx="11063880" cy="3001320"/>
          </a:xfrm>
          <a:prstGeom prst="rect">
            <a:avLst/>
          </a:prstGeom>
          <a:ln w="0">
            <a:noFill/>
          </a:ln>
        </p:spPr>
      </p:pic>
      <p:sp>
        <p:nvSpPr>
          <p:cNvPr id="113" name="TextBox 5"/>
          <p:cNvSpPr/>
          <p:nvPr/>
        </p:nvSpPr>
        <p:spPr>
          <a:xfrm>
            <a:off x="548640" y="4297680"/>
            <a:ext cx="1106388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Dias de anticipacion: la mayoria reserva con poco tiempo, pero unos pocos lo hacen con muchos meses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Precio por noche: casi todo entre 50 y 150 €, con algunos casos premium mucho mas caros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Cuanto se quedan: estadias cortas (1 a 4 noches), pocas largas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Comparando los dos hoteles y las cancelaciones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3"/>
          <p:cNvSpPr/>
          <p:nvPr/>
        </p:nvSpPr>
        <p:spPr>
          <a:xfrm>
            <a:off x="9784080" y="2286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Boxplot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7" name="Picture 4" descr="cell_24.png"/>
          <p:cNvPicPr/>
          <p:nvPr/>
        </p:nvPicPr>
        <p:blipFill>
          <a:blip r:embed="rId1"/>
          <a:stretch/>
        </p:blipFill>
        <p:spPr>
          <a:xfrm>
            <a:off x="548640" y="1005840"/>
            <a:ext cx="11063880" cy="3001320"/>
          </a:xfrm>
          <a:prstGeom prst="rect">
            <a:avLst/>
          </a:prstGeom>
          <a:ln w="0">
            <a:noFill/>
          </a:ln>
        </p:spPr>
      </p:pic>
      <p:sp>
        <p:nvSpPr>
          <p:cNvPr id="118" name="TextBox 5"/>
          <p:cNvSpPr/>
          <p:nvPr/>
        </p:nvSpPr>
        <p:spPr>
          <a:xfrm>
            <a:off x="548640" y="4297680"/>
            <a:ext cx="1106388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Hay algunos precios muy altos en ambos hoteles (casos raros)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En el Resort la gente reserva con mas anticipacion (logico: las vacaciones se planean)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PISTA IMPORTANTE: las reservas que se cancelan tienen MAS dias de anticipacion en promedio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¿Hay relacion entre las variables?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3"/>
          <p:cNvSpPr/>
          <p:nvPr/>
        </p:nvSpPr>
        <p:spPr>
          <a:xfrm>
            <a:off x="9784080" y="2286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Nube de puntos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2" name="Picture 4" descr="cell_27.png"/>
          <p:cNvPicPr/>
          <p:nvPr/>
        </p:nvPicPr>
        <p:blipFill>
          <a:blip r:embed="rId1"/>
          <a:stretch/>
        </p:blipFill>
        <p:spPr>
          <a:xfrm>
            <a:off x="731520" y="1005840"/>
            <a:ext cx="10698120" cy="3944160"/>
          </a:xfrm>
          <a:prstGeom prst="rect">
            <a:avLst/>
          </a:prstGeom>
          <a:ln w="0">
            <a:noFill/>
          </a:ln>
        </p:spPr>
      </p:pic>
      <p:sp>
        <p:nvSpPr>
          <p:cNvPr id="123" name="TextBox 5"/>
          <p:cNvSpPr/>
          <p:nvPr/>
        </p:nvSpPr>
        <p:spPr>
          <a:xfrm>
            <a:off x="548640" y="5029200"/>
            <a:ext cx="11063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Izquierda: los puntos naranjas (canceladas) tienden a estar mas a la derecha = mas anticipacion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</a:rPr>
              <a:t>Derecha: el Resort acepta estadias mas largas; en el de ciudad la gente se queda poco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Mapa de relaciones entre todas las variables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3"/>
          <p:cNvSpPr/>
          <p:nvPr/>
        </p:nvSpPr>
        <p:spPr>
          <a:xfrm>
            <a:off x="9784080" y="2286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Mapa de calor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" name="Picture 4" descr="cell_29.png"/>
          <p:cNvPicPr/>
          <p:nvPr/>
        </p:nvPicPr>
        <p:blipFill>
          <a:blip r:embed="rId1"/>
          <a:stretch/>
        </p:blipFill>
        <p:spPr>
          <a:xfrm>
            <a:off x="2743200" y="1005840"/>
            <a:ext cx="6354000" cy="4663080"/>
          </a:xfrm>
          <a:prstGeom prst="rect">
            <a:avLst/>
          </a:prstGeom>
          <a:ln w="0">
            <a:noFill/>
          </a:ln>
        </p:spPr>
      </p:pic>
      <p:sp>
        <p:nvSpPr>
          <p:cNvPr id="128" name="TextBox 5"/>
          <p:cNvSpPr/>
          <p:nvPr/>
        </p:nvSpPr>
        <p:spPr>
          <a:xfrm>
            <a:off x="365760" y="5852160"/>
            <a:ext cx="114296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76f51"/>
                </a:solidFill>
                <a:latin typeface="Calibri"/>
              </a:rPr>
              <a:t>Las cosas que mas predicen cancelacion: mucha anticipacion (+), pocos pedidos especiales (-), no pedir estacionamiento (-), historial de cancelaciones previas (+).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731520" y="2286000"/>
            <a:ext cx="182844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0" spc="-1" strike="noStrike">
                <a:solidFill>
                  <a:srgbClr val="2e86ab"/>
                </a:solidFill>
                <a:latin typeface="Calibri"/>
              </a:rPr>
              <a:t>03</a:t>
            </a:r>
            <a:endParaRPr b="0" lang="es-AR" sz="1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2743200" y="2926080"/>
            <a:ext cx="86864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Las cinco respuestas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¿Booking o reservas directas? ¿Quien cancela mas?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3"/>
          <p:cNvSpPr/>
          <p:nvPr/>
        </p:nvSpPr>
        <p:spPr>
          <a:xfrm>
            <a:off x="9784080" y="2286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Barras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" name="Picture 4" descr="cell_32.png"/>
          <p:cNvPicPr/>
          <p:nvPr/>
        </p:nvPicPr>
        <p:blipFill>
          <a:blip r:embed="rId1"/>
          <a:stretch/>
        </p:blipFill>
        <p:spPr>
          <a:xfrm>
            <a:off x="457200" y="1005840"/>
            <a:ext cx="7772040" cy="3470040"/>
          </a:xfrm>
          <a:prstGeom prst="rect">
            <a:avLst/>
          </a:prstGeom>
          <a:ln w="0">
            <a:noFill/>
          </a:ln>
        </p:spPr>
      </p:pic>
      <p:sp>
        <p:nvSpPr>
          <p:cNvPr id="136" name="TextBox 5"/>
          <p:cNvSpPr/>
          <p:nvPr/>
        </p:nvSpPr>
        <p:spPr>
          <a:xfrm>
            <a:off x="8503920" y="100584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LO QUE ENCONTRAMOS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8503920" y="1417320"/>
            <a:ext cx="347436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En Booking y similares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(Online TA): cancela ~35%.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Reservando directo: ~15%.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Empresas (corporate): ~12%.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8503920" y="32004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POR QUE PASA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8"/>
          <p:cNvSpPr/>
          <p:nvPr/>
        </p:nvSpPr>
        <p:spPr>
          <a:xfrm>
            <a:off x="8503920" y="3611880"/>
            <a:ext cx="34743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Reservar por Booking es facil y sin compromiso: pocos clics. Reservar directo implica mas vinculo.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8503920" y="50292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QUE PODEMOS HACER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8503920" y="5440680"/>
            <a:ext cx="3474360" cy="79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a9d8f"/>
                </a:solidFill>
                <a:latin typeface="Calibri"/>
              </a:rPr>
              <a:t>Repensar cuanto nos conviene apoyarnos en Booking: la comision se "come" parte del precio Y ademas perdemos 1 de cada 3.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¿Los que piden cosas especiales cancelan menos?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ounded Rectangle 3"/>
          <p:cNvSpPr/>
          <p:nvPr/>
        </p:nvSpPr>
        <p:spPr>
          <a:xfrm>
            <a:off x="9784080" y="2286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Barras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Picture 4" descr="cell_34.png"/>
          <p:cNvPicPr/>
          <p:nvPr/>
        </p:nvPicPr>
        <p:blipFill>
          <a:blip r:embed="rId1"/>
          <a:stretch/>
        </p:blipFill>
        <p:spPr>
          <a:xfrm>
            <a:off x="457200" y="1005840"/>
            <a:ext cx="7772040" cy="3822480"/>
          </a:xfrm>
          <a:prstGeom prst="rect">
            <a:avLst/>
          </a:prstGeom>
          <a:ln w="0">
            <a:noFill/>
          </a:ln>
        </p:spPr>
      </p:pic>
      <p:sp>
        <p:nvSpPr>
          <p:cNvPr id="146" name="TextBox 5"/>
          <p:cNvSpPr/>
          <p:nvPr/>
        </p:nvSpPr>
        <p:spPr>
          <a:xfrm>
            <a:off x="8503920" y="100584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LO QUE ENCONTRAMOS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6"/>
          <p:cNvSpPr/>
          <p:nvPr/>
        </p:nvSpPr>
        <p:spPr>
          <a:xfrm>
            <a:off x="8503920" y="1417320"/>
            <a:ext cx="3474360" cy="9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Sin pedidos: cancela 1 de cada 3.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Con 1 pedido: 1 de cada 5.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Con 5 pedidos: solo 1 de cada 17.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Cuantos mas pedidos, menos cancela.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7"/>
          <p:cNvSpPr/>
          <p:nvPr/>
        </p:nvSpPr>
        <p:spPr>
          <a:xfrm>
            <a:off x="8503920" y="32004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POR QUE PASA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8503920" y="3611880"/>
            <a:ext cx="34743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Si alguien se tomo el trabajo de pedir cuna, vista o tipo de cama, esta comprometido con el viaje.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9"/>
          <p:cNvSpPr/>
          <p:nvPr/>
        </p:nvSpPr>
        <p:spPr>
          <a:xfrm>
            <a:off x="8503920" y="50292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QUE PODEMOS HACER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8503920" y="5440680"/>
            <a:ext cx="34743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a9d8f"/>
                </a:solidFill>
                <a:latin typeface="Calibri"/>
              </a:rPr>
              <a:t>Cuando entra una reserva sin ningun pedido especial, mandarle un recordatorio o pedirle que confirme.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¿Reservar con anticipacion aumenta las cancelaciones?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3"/>
          <p:cNvSpPr/>
          <p:nvPr/>
        </p:nvSpPr>
        <p:spPr>
          <a:xfrm>
            <a:off x="9784080" y="2286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Barras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" name="Picture 4" descr="cell_36.png"/>
          <p:cNvPicPr/>
          <p:nvPr/>
        </p:nvPicPr>
        <p:blipFill>
          <a:blip r:embed="rId1"/>
          <a:stretch/>
        </p:blipFill>
        <p:spPr>
          <a:xfrm>
            <a:off x="457200" y="1005840"/>
            <a:ext cx="7772040" cy="3822480"/>
          </a:xfrm>
          <a:prstGeom prst="rect">
            <a:avLst/>
          </a:prstGeom>
          <a:ln w="0">
            <a:noFill/>
          </a:ln>
        </p:spPr>
      </p:pic>
      <p:sp>
        <p:nvSpPr>
          <p:cNvPr id="156" name="TextBox 5"/>
          <p:cNvSpPr/>
          <p:nvPr/>
        </p:nvSpPr>
        <p:spPr>
          <a:xfrm>
            <a:off x="8503920" y="100584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LO QUE ENCONTRAMOS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8503920" y="1417320"/>
            <a:ext cx="3474360" cy="79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Reservas a 1 semana: cancela 8%.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Reservas a 3 meses: 30%.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Reservas a 6 meses: 41%.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Reservas a 1+ anio: mas del 40%.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8503920" y="32004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POR QUE PASA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8503920" y="3611880"/>
            <a:ext cx="34743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A mayor tiempo entre reserva y viaje, mas chances de que algo cambie (trabajo, salud, plata).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8503920" y="50292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QUE PODEMOS HACER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8503920" y="5440680"/>
            <a:ext cx="3474360" cy="79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a9d8f"/>
                </a:solidFill>
                <a:latin typeface="Calibri"/>
              </a:rPr>
              <a:t>Para reservas hechas con mucha anticipacion, vender un poquito mas (overbooking) sabiendo que parte va a cancelar.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¿Los clientes que ya vinieron cancelan menos?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3"/>
          <p:cNvSpPr/>
          <p:nvPr/>
        </p:nvSpPr>
        <p:spPr>
          <a:xfrm>
            <a:off x="9784080" y="2286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Torta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5" name="Picture 4" descr="cell_38.png"/>
          <p:cNvPicPr/>
          <p:nvPr/>
        </p:nvPicPr>
        <p:blipFill>
          <a:blip r:embed="rId1"/>
          <a:stretch/>
        </p:blipFill>
        <p:spPr>
          <a:xfrm>
            <a:off x="1280160" y="1005840"/>
            <a:ext cx="4417920" cy="4571640"/>
          </a:xfrm>
          <a:prstGeom prst="rect">
            <a:avLst/>
          </a:prstGeom>
          <a:ln w="0">
            <a:noFill/>
          </a:ln>
        </p:spPr>
      </p:pic>
      <p:sp>
        <p:nvSpPr>
          <p:cNvPr id="166" name="TextBox 5"/>
          <p:cNvSpPr/>
          <p:nvPr/>
        </p:nvSpPr>
        <p:spPr>
          <a:xfrm>
            <a:off x="8503920" y="100584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LO QUE ENCONTRAMOS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8503920" y="1417320"/>
            <a:ext cx="347436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Clientes nuevos: cancela 28%.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Clientes que repiten: solo 8%.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Los repetidos cancelan 3,5 veces menos.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Pero son solo el 4% del total.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8503920" y="32004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POR QUE PASA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8503920" y="3611880"/>
            <a:ext cx="34743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El cliente que ya estuvo, conoce, le gusto y vuelve con intencion firme.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9"/>
          <p:cNvSpPr/>
          <p:nvPr/>
        </p:nvSpPr>
        <p:spPr>
          <a:xfrm>
            <a:off x="8503920" y="50292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QUE PODEMOS HACER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10"/>
          <p:cNvSpPr/>
          <p:nvPr/>
        </p:nvSpPr>
        <p:spPr>
          <a:xfrm>
            <a:off x="8503920" y="5440680"/>
            <a:ext cx="34743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a9d8f"/>
                </a:solidFill>
                <a:latin typeface="Calibri"/>
              </a:rPr>
              <a:t>Invertir en programas de fidelidad (puntos, beneficios). Convertir un nuevo en repetido es muy rentable.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¿Los precios cambian segun la epoca del anio?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3"/>
          <p:cNvSpPr/>
          <p:nvPr/>
        </p:nvSpPr>
        <p:spPr>
          <a:xfrm>
            <a:off x="9784080" y="228600"/>
            <a:ext cx="2194200" cy="45684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Lineas</a:t>
            </a:r>
            <a:endParaRPr b="0" lang="es-AR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5" name="Picture 4" descr="cell_40.png"/>
          <p:cNvPicPr/>
          <p:nvPr/>
        </p:nvPicPr>
        <p:blipFill>
          <a:blip r:embed="rId1"/>
          <a:stretch/>
        </p:blipFill>
        <p:spPr>
          <a:xfrm>
            <a:off x="457200" y="1005840"/>
            <a:ext cx="7772040" cy="3833280"/>
          </a:xfrm>
          <a:prstGeom prst="rect">
            <a:avLst/>
          </a:prstGeom>
          <a:ln w="0">
            <a:noFill/>
          </a:ln>
        </p:spPr>
      </p:pic>
      <p:sp>
        <p:nvSpPr>
          <p:cNvPr id="176" name="TextBox 5"/>
          <p:cNvSpPr/>
          <p:nvPr/>
        </p:nvSpPr>
        <p:spPr>
          <a:xfrm>
            <a:off x="8503920" y="100584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LO QUE ENCONTRAMOS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6"/>
          <p:cNvSpPr/>
          <p:nvPr/>
        </p:nvSpPr>
        <p:spPr>
          <a:xfrm>
            <a:off x="8503920" y="1417320"/>
            <a:ext cx="3474360" cy="13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Resort (playa):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noviembre 49 €  →  agosto 188 €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(casi 4 veces mas)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Hotel de ciudad: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enero 85 € → mayo 128 €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(mucho mas estable)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8503920" y="32004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POR QUE PASA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8503920" y="3611880"/>
            <a:ext cx="34743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</a:rPr>
              <a:t>El Resort tiene temporada alta y baja muy marcadas. El de ciudad mantiene un publico mas estable todo el anio.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9"/>
          <p:cNvSpPr/>
          <p:nvPr/>
        </p:nvSpPr>
        <p:spPr>
          <a:xfrm>
            <a:off x="8503920" y="5029200"/>
            <a:ext cx="347436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3a5f"/>
                </a:solidFill>
                <a:latin typeface="Calibri"/>
              </a:rPr>
              <a:t>QUE PODEMOS HACER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8503920" y="5440680"/>
            <a:ext cx="3474360" cy="79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a9d8f"/>
                </a:solidFill>
                <a:latin typeface="Calibri"/>
              </a:rPr>
              <a:t>Resort: cobrar fuerte en verano y armar promociones para meses flojos. Ciudad: tarifas mas parejas y paquetes corporativos.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731520" y="2286000"/>
            <a:ext cx="182844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0" spc="-1" strike="noStrike">
                <a:solidFill>
                  <a:srgbClr val="2e86ab"/>
                </a:solidFill>
                <a:latin typeface="Calibri"/>
              </a:rPr>
              <a:t>04</a:t>
            </a:r>
            <a:endParaRPr b="0" lang="es-AR" sz="1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2743200" y="2926080"/>
            <a:ext cx="86864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Que aprendimos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¿Como es la reserva mas "riesgosa"?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731520" y="1280160"/>
            <a:ext cx="10972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Si una reserva cumple todo esto a la vez, es casi seguro que se va a cancelar: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1371600" y="2011680"/>
            <a:ext cx="10058040" cy="26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9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Se hizo por Booking, Expedia o similar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9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Sin ningun pedido especial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9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Con mucha anticipacion (mas de 6 meses)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9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2200" spc="-1" strike="noStrike">
                <a:solidFill>
                  <a:srgbClr val="555555"/>
                </a:solidFill>
                <a:latin typeface="Calibri"/>
              </a:rPr>
              <a:t>El cliente es nuevo (nunca se hospedo antes)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731520" y="5577840"/>
            <a:ext cx="109724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76f51"/>
                </a:solidFill>
                <a:latin typeface="Calibri"/>
              </a:rPr>
              <a:t>Esto se cancela mucho mas que el promedio del 27%. Es la reserva que mas hay que vigilar.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Que se puede hacer con esto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731520" y="1188720"/>
            <a:ext cx="10972440" cy="28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65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Vender un poco mas de la capacidad cuando hay mucha anticipacion via Booking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5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Armar programa de fidelidad fuerte: el cliente que vuelve cancela 3 veces menos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5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Mandar recordatorios automaticos a reservas sin pedidos especiales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5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Subir precios en verano (sobre todo en el Resort) y bajar para llenar en temporada baja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5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Pensar paquetes corporativos y de fin de semana para llenar el hotel de ciudad cuando esta flojo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5000"/>
              </a:lnSpc>
            </a:pP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800" spc="-1" strike="noStrike">
                <a:solidFill>
                  <a:srgbClr val="555555"/>
                </a:solidFill>
                <a:latin typeface="Calibri"/>
              </a:rPr>
              <a:t>Revisar si Booking nos conviene tanto: ademas de la comision, perdemos 1 de cada 3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457200" y="182880"/>
            <a:ext cx="91436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Lo que nos llevamos del proceso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731520" y="1188720"/>
            <a:ext cx="10972440" cy="21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60000"/>
              </a:lnSpc>
            </a:pP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Limpiar los datos fue tan importante como analizarlos: 27% duplicados, 94% de "empresa" vacia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0000"/>
              </a:lnSpc>
            </a:pP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No todo "vacio" es un dato faltante: a veces significa "no aplica" y hay que entenderlo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0000"/>
              </a:lnSpc>
            </a:pP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Las columnas calculadas (fecha unica, total de noches, etc.) ahorran mucho trabajo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0000"/>
              </a:lnSpc>
            </a:pP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Un buen grafico cuenta una historia que los numeros solos no muestran tan claro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60000"/>
              </a:lnSpc>
            </a:pP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•  </a:t>
            </a:r>
            <a:r>
              <a:rPr b="0" lang="en-US" sz="1700" spc="-1" strike="noStrike">
                <a:solidFill>
                  <a:srgbClr val="555555"/>
                </a:solidFill>
                <a:latin typeface="Calibri"/>
              </a:rPr>
              <a:t>Cada pregunta se eligio para poder TOMAR UNA DECISION, no por curiosidad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731520" y="256032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ffffff"/>
                </a:solidFill>
                <a:latin typeface="Calibri"/>
              </a:rPr>
              <a:t>Gracias</a:t>
            </a:r>
            <a:endParaRPr b="0" lang="es-A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731520" y="3931920"/>
            <a:ext cx="106981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ccddee"/>
                </a:solidFill>
                <a:latin typeface="Calibri"/>
              </a:rPr>
              <a:t>¿Preguntas?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731520" y="5943600"/>
            <a:ext cx="106981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9aabb"/>
                </a:solidFill>
                <a:latin typeface="Calibri"/>
              </a:rPr>
              <a:t>Marcelo Vieira  |  TP1 — Hotel Bookings  |  Diplomatura IA</a:t>
            </a:r>
            <a:endParaRPr b="0" lang="es-A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es-AR</dc:language>
  <cp:lastModifiedBy/>
  <dcterms:modified xsi:type="dcterms:W3CDTF">2026-05-27T09:16:07Z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
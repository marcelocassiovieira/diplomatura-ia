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017520"/>
            <a:ext cx="12191695" cy="4572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194560"/>
            <a:ext cx="106984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4400" b="1">
                <a:solidFill>
                  <a:srgbClr val="FFFFFF"/>
                </a:solidFill>
              </a:rPr>
              <a:t>Reservas de Hotel: ¿quien cancela y por que?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291840"/>
            <a:ext cx="106984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200" b="0">
                <a:solidFill>
                  <a:srgbClr val="CCDDEE"/>
                </a:solidFill>
              </a:rPr>
              <a:t>Analisis sobre 119.000 reservas reales de dos hoteles en Portugal</a:t>
            </a:r>
          </a:p>
          <a:p>
            <a:pPr algn="ctr"/>
            <a:r>
              <a:rPr sz="2200" b="0">
                <a:solidFill>
                  <a:srgbClr val="CCDDEE"/>
                </a:solidFill>
              </a:rPr>
              <a:t/>
            </a:r>
          </a:p>
          <a:p>
            <a:pPr algn="ctr"/>
            <a:r>
              <a:rPr sz="2200" b="0">
                <a:solidFill>
                  <a:srgbClr val="CCDDEE"/>
                </a:solidFill>
              </a:rPr>
              <a:t>Marcelo Vieira  |  Diplomatura en Inteligencia Artificial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91440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De que vamos a hablar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80000"/>
              </a:lnSpc>
            </a:pPr>
            <a:r>
              <a:rPr sz="2200">
                <a:solidFill>
                  <a:srgbClr val="555555"/>
                </a:solidFill>
              </a:rPr>
              <a:t>•  El problema: cancelaciones que nos cuestan plata</a:t>
            </a:r>
          </a:p>
          <a:p>
            <a:pPr>
              <a:lnSpc>
                <a:spcPct val="180000"/>
              </a:lnSpc>
            </a:pPr>
            <a:r>
              <a:rPr sz="2200">
                <a:solidFill>
                  <a:srgbClr val="555555"/>
                </a:solidFill>
              </a:rPr>
              <a:t>•  Que datos tenemos</a:t>
            </a:r>
          </a:p>
          <a:p>
            <a:pPr>
              <a:lnSpc>
                <a:spcPct val="180000"/>
              </a:lnSpc>
            </a:pPr>
            <a:r>
              <a:rPr sz="2200">
                <a:solidFill>
                  <a:srgbClr val="555555"/>
                </a:solidFill>
              </a:rPr>
              <a:t>•  Como los preparamos antes de analizarlos</a:t>
            </a:r>
          </a:p>
          <a:p>
            <a:pPr>
              <a:lnSpc>
                <a:spcPct val="180000"/>
              </a:lnSpc>
            </a:pPr>
            <a:r>
              <a:rPr sz="2200">
                <a:solidFill>
                  <a:srgbClr val="555555"/>
                </a:solidFill>
              </a:rPr>
              <a:t>•  Que nos muestran cuando los miramos</a:t>
            </a:r>
          </a:p>
          <a:p>
            <a:pPr>
              <a:lnSpc>
                <a:spcPct val="180000"/>
              </a:lnSpc>
            </a:pPr>
            <a:r>
              <a:rPr sz="2200">
                <a:solidFill>
                  <a:srgbClr val="555555"/>
                </a:solidFill>
              </a:rPr>
              <a:t>•  Cinco preguntas que les hicimos a los datos</a:t>
            </a:r>
          </a:p>
          <a:p>
            <a:pPr>
              <a:lnSpc>
                <a:spcPct val="180000"/>
              </a:lnSpc>
            </a:pPr>
            <a:r>
              <a:rPr sz="2200">
                <a:solidFill>
                  <a:srgbClr val="555555"/>
                </a:solidFill>
              </a:rPr>
              <a:t>•  Que aprendimos y que podemos hacer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91440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El problema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>
                <a:solidFill>
                  <a:srgbClr val="1F3A5F"/>
                </a:solidFill>
              </a:rPr>
              <a:t>La situacion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3736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0000"/>
              </a:lnSpc>
            </a:pPr>
            <a:r>
              <a:rPr sz="1800">
                <a:solidFill>
                  <a:srgbClr val="555555"/>
                </a:solidFill>
              </a:rPr>
              <a:t>•  Dos hoteles en Portugal: uno en la ciudad, otro tipo resort en la playa</a:t>
            </a:r>
          </a:p>
          <a:p>
            <a:pPr>
              <a:lnSpc>
                <a:spcPct val="140000"/>
              </a:lnSpc>
            </a:pPr>
            <a:r>
              <a:rPr sz="1800">
                <a:solidFill>
                  <a:srgbClr val="555555"/>
                </a:solidFill>
              </a:rPr>
              <a:t>•  Tres anios de reservas (2015-2017): casi 120.000 en total</a:t>
            </a:r>
          </a:p>
          <a:p>
            <a:pPr>
              <a:lnSpc>
                <a:spcPct val="140000"/>
              </a:lnSpc>
            </a:pPr>
            <a:r>
              <a:rPr sz="1800">
                <a:solidFill>
                  <a:srgbClr val="555555"/>
                </a:solidFill>
              </a:rPr>
              <a:t>•  Una de cada cuatro reservas se cancela. Eso es mucha plata y mucha habitacion vacia.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02336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>
                <a:solidFill>
                  <a:srgbClr val="1F3A5F"/>
                </a:solidFill>
              </a:rPr>
              <a:t>Las preguntas que queremos contestar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57200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0000"/>
              </a:lnSpc>
            </a:pPr>
            <a:r>
              <a:rPr sz="1800">
                <a:solidFill>
                  <a:srgbClr val="555555"/>
                </a:solidFill>
              </a:rPr>
              <a:t>•  ¿Que tipo de reserva tiene mas chances de cancelarse?</a:t>
            </a:r>
          </a:p>
          <a:p>
            <a:pPr>
              <a:lnSpc>
                <a:spcPct val="140000"/>
              </a:lnSpc>
            </a:pPr>
            <a:r>
              <a:rPr sz="1800">
                <a:solidFill>
                  <a:srgbClr val="555555"/>
                </a:solidFill>
              </a:rPr>
              <a:t>•  ¿Podemos anticiparnos para perder menos?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91440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Las cinco preguntas que les hicimos a los datos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90000"/>
              </a:lnSpc>
            </a:pPr>
            <a:r>
              <a:rPr sz="2000">
                <a:solidFill>
                  <a:srgbClr val="555555"/>
                </a:solidFill>
              </a:rPr>
              <a:t>•  ¿Donde se cancela mas: en Booking o reservando directo al hotel?</a:t>
            </a:r>
          </a:p>
          <a:p>
            <a:pPr>
              <a:lnSpc>
                <a:spcPct val="190000"/>
              </a:lnSpc>
            </a:pPr>
            <a:r>
              <a:rPr sz="2000">
                <a:solidFill>
                  <a:srgbClr val="555555"/>
                </a:solidFill>
              </a:rPr>
              <a:t>•  ¿Los que piden cosas especiales (cuna, vista) cancelan menos?</a:t>
            </a:r>
          </a:p>
          <a:p>
            <a:pPr>
              <a:lnSpc>
                <a:spcPct val="190000"/>
              </a:lnSpc>
            </a:pPr>
            <a:r>
              <a:rPr sz="2000">
                <a:solidFill>
                  <a:srgbClr val="555555"/>
                </a:solidFill>
              </a:rPr>
              <a:t>•  ¿Reservar con mucha anticipacion aumenta las chances de cancelar?</a:t>
            </a:r>
          </a:p>
          <a:p>
            <a:pPr>
              <a:lnSpc>
                <a:spcPct val="190000"/>
              </a:lnSpc>
            </a:pPr>
            <a:r>
              <a:rPr sz="2000">
                <a:solidFill>
                  <a:srgbClr val="555555"/>
                </a:solidFill>
              </a:rPr>
              <a:t>•  ¿Los clientes que ya vinieron antes son mas confiables?</a:t>
            </a:r>
          </a:p>
          <a:p>
            <a:pPr>
              <a:lnSpc>
                <a:spcPct val="190000"/>
              </a:lnSpc>
            </a:pPr>
            <a:r>
              <a:rPr sz="2000">
                <a:solidFill>
                  <a:srgbClr val="555555"/>
                </a:solidFill>
              </a:rPr>
              <a:t>•  ¿Los precios cambian segun la epoca del anio? ¿Cambian distinto en cada hotel?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12648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E76F51"/>
                </a:solidFill>
              </a:rPr>
              <a:t>Cada pregunta esta pensada para poder TOMAR UNA DECISION concreta al responderla.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0"/>
            <a:ext cx="18288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0" b="1">
                <a:solidFill>
                  <a:srgbClr val="2E86AB"/>
                </a:solidFill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0" y="2926080"/>
            <a:ext cx="8686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Preparando los datos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91440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Como preparamos los datos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>
                <a:solidFill>
                  <a:srgbClr val="1F3A5F"/>
                </a:solidFill>
              </a:rPr>
              <a:t>Antes de analizar, hay que limpiar.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60000"/>
              </a:lnSpc>
            </a:pPr>
            <a:r>
              <a:rPr sz="1800">
                <a:solidFill>
                  <a:srgbClr val="555555"/>
                </a:solidFill>
              </a:rPr>
              <a:t>•  Abrir el archivo y verificar que tiene todo lo que esperamos</a:t>
            </a:r>
          </a:p>
          <a:p>
            <a:pPr>
              <a:lnSpc>
                <a:spcPct val="160000"/>
              </a:lnSpc>
            </a:pPr>
            <a:r>
              <a:rPr sz="1800">
                <a:solidFill>
                  <a:srgbClr val="555555"/>
                </a:solidFill>
              </a:rPr>
              <a:t>•  Detectar celdas vacias y decidir que hacer con cada una</a:t>
            </a:r>
          </a:p>
          <a:p>
            <a:pPr>
              <a:lnSpc>
                <a:spcPct val="160000"/>
              </a:lnSpc>
            </a:pPr>
            <a:r>
              <a:rPr sz="1800">
                <a:solidFill>
                  <a:srgbClr val="555555"/>
                </a:solidFill>
              </a:rPr>
              <a:t>•  Eliminar filas repetidas (habia muchas)</a:t>
            </a:r>
          </a:p>
          <a:p>
            <a:pPr>
              <a:lnSpc>
                <a:spcPct val="160000"/>
              </a:lnSpc>
            </a:pPr>
            <a:r>
              <a:rPr sz="1800">
                <a:solidFill>
                  <a:srgbClr val="555555"/>
                </a:solidFill>
              </a:rPr>
              <a:t>•  Sacar datos imposibles: precios negativos, reservas sin huespedes, etc.</a:t>
            </a:r>
          </a:p>
          <a:p>
            <a:pPr>
              <a:lnSpc>
                <a:spcPct val="160000"/>
              </a:lnSpc>
            </a:pPr>
            <a:r>
              <a:rPr sz="1800">
                <a:solidFill>
                  <a:srgbClr val="555555"/>
                </a:solidFill>
              </a:rPr>
              <a:t>•  Armar columnas calculadas que nos sirven (fecha unica, total de noches, etc.)</a:t>
            </a:r>
          </a:p>
          <a:p>
            <a:pPr>
              <a:lnSpc>
                <a:spcPct val="160000"/>
              </a:lnSpc>
            </a:pPr>
            <a:r>
              <a:rPr sz="1800">
                <a:solidFill>
                  <a:srgbClr val="555555"/>
                </a:solidFill>
              </a:rPr>
              <a:t>•  Recien aca: empezar a analizar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91440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Celdas vacias: cuatro casos, cuatro decisiones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0">
                <a:solidFill>
                  <a:srgbClr val="555555"/>
                </a:solidFill>
              </a:rPr>
              <a:t>Cada vacio significa algo distinto. Por eso no se puede borrar todo igual.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828800"/>
          <a:ext cx="1115568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097280"/>
                <a:gridCol w="1097280"/>
                <a:gridCol w="2011680"/>
                <a:gridCol w="5120640"/>
              </a:tblGrid>
              <a:tr h="585216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Columna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Vacias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% del total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Que hicimos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Por que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555555"/>
                          </a:solidFill>
                        </a:rPr>
                        <a:t>Empresa (company)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555555"/>
                          </a:solidFill>
                        </a:rPr>
                        <a:t>112.593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555555"/>
                          </a:solidFill>
                        </a:rPr>
                        <a:t>94 %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555555"/>
                          </a:solidFill>
                        </a:rPr>
                        <a:t>Pusimos 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555555"/>
                          </a:solidFill>
                        </a:rPr>
                        <a:t>Casi nadie reserva via empresa: el vacio significa "es persona", no falta el dato</a:t>
                      </a:r>
                    </a:p>
                  </a:txBody>
                  <a:tcPr/>
                </a:tc>
              </a:tr>
              <a:tr h="585216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555555"/>
                          </a:solidFill>
                        </a:rPr>
                        <a:t>Agente (agent)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555555"/>
                          </a:solidFill>
                        </a:rPr>
                        <a:t>16.340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555555"/>
                          </a:solidFill>
                        </a:rPr>
                        <a:t>14 %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555555"/>
                          </a:solidFill>
                        </a:rPr>
                        <a:t>Pusimos 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555555"/>
                          </a:solidFill>
                        </a:rPr>
                        <a:t>Vacio = la reserva se hizo sin agencia</a:t>
                      </a:r>
                    </a:p>
                  </a:txBody>
                  <a:tcPr/>
                </a:tc>
              </a:tr>
              <a:tr h="585216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555555"/>
                          </a:solidFill>
                        </a:rPr>
                        <a:t>Pais (country)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555555"/>
                          </a:solidFill>
                        </a:rPr>
                        <a:t>488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555555"/>
                          </a:solidFill>
                        </a:rPr>
                        <a:t>&lt; 1 %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555555"/>
                          </a:solidFill>
                        </a:rPr>
                        <a:t>Pusimos "Desconocido"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555555"/>
                          </a:solidFill>
                        </a:rPr>
                        <a:t>No se declaro al reservar, lo conservamos como categoria</a:t>
                      </a:r>
                    </a:p>
                  </a:txBody>
                  <a:tcPr/>
                </a:tc>
              </a:tr>
              <a:tr h="585216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555555"/>
                          </a:solidFill>
                        </a:rPr>
                        <a:t>Ninios (children)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555555"/>
                          </a:solidFill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555555"/>
                          </a:solidFill>
                        </a:rPr>
                        <a:t>&lt; 0,01 %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555555"/>
                          </a:solidFill>
                        </a:rPr>
                        <a:t>Pusimos 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555555"/>
                          </a:solidFill>
                        </a:rPr>
                        <a:t>Casos sueltos, parecen errores de carga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31520" y="512064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E76F51"/>
                </a:solidFill>
              </a:rPr>
              <a:t>Si borrabamos todas las filas con vacios perdiamos el 94% del dataset. Por eso pensamos cada caso.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91440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Filas repetidas: una de cada cuatro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>
                <a:solidFill>
                  <a:srgbClr val="1F3A5F"/>
                </a:solidFill>
              </a:rPr>
              <a:t>Lo que encontramos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800">
                <a:solidFill>
                  <a:srgbClr val="555555"/>
                </a:solidFill>
              </a:rPr>
              <a:t>•  El 27% de las filas estaban exactamente duplicadas (unas 32.000)</a:t>
            </a:r>
          </a:p>
          <a:p>
            <a:pPr>
              <a:lnSpc>
                <a:spcPct val="130000"/>
              </a:lnSpc>
            </a:pPr>
            <a:r>
              <a:rPr sz="1800">
                <a:solidFill>
                  <a:srgbClr val="555555"/>
                </a:solidFill>
              </a:rPr>
              <a:t>•  El archivo no tiene un "numero de reserva" unico para distinguirlas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6576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>
                <a:solidFill>
                  <a:srgbClr val="1F3A5F"/>
                </a:solidFill>
              </a:rPr>
              <a:t>Que hicimos: eliminarlas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206240"/>
            <a:ext cx="1097280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800">
                <a:solidFill>
                  <a:srgbClr val="555555"/>
                </a:solidFill>
              </a:rPr>
              <a:t>•  Que dos reservas coincidan en TODAS sus 32 columnas (incluida la fecha del ultimo movimiento) es practicamente imposible que sea casualidad</a:t>
            </a:r>
          </a:p>
          <a:p>
            <a:pPr>
              <a:lnSpc>
                <a:spcPct val="130000"/>
              </a:lnSpc>
            </a:pPr>
            <a:r>
              <a:rPr sz="1800">
                <a:solidFill>
                  <a:srgbClr val="555555"/>
                </a:solidFill>
              </a:rPr>
              <a:t>•  Asumimos error de carga del archivo y lo dejamos documentado</a:t>
            </a:r>
          </a:p>
          <a:p>
            <a:pPr>
              <a:lnSpc>
                <a:spcPct val="130000"/>
              </a:lnSpc>
            </a:pPr>
            <a:r>
              <a:rPr sz="1800">
                <a:solidFill>
                  <a:srgbClr val="555555"/>
                </a:solidFill>
              </a:rPr>
              <a:t>•  Quedamos con 87.000 reservas limpias para analizar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91440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Columnas que creamos para facilitar el analisis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48640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E76F51"/>
                </a:solidFill>
              </a:rPr>
              <a:t>La idea: si vamos a usar algo en varias partes, mejor calcularlo una vez.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371600"/>
          <a:ext cx="1115568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3931920"/>
                <a:gridCol w="3931920"/>
              </a:tblGrid>
              <a:tr h="6096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Columna nueva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Como se calcula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Para que sirve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555555"/>
                          </a:solidFill>
                        </a:rPr>
                        <a:t>Fecha de llegada (arrival_date)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555555"/>
                          </a:solidFill>
                        </a:rPr>
                        <a:t>Juntamos anio + mes + dia en una fecha real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555555"/>
                          </a:solidFill>
                        </a:rPr>
                        <a:t>Poder ordenar cronologicamente y filtrar por epoca</a:t>
                      </a:r>
                    </a:p>
                  </a:txBody>
                  <a:tcPr/>
                </a:tc>
              </a:tr>
              <a:tr h="6096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555555"/>
                          </a:solidFill>
                        </a:rPr>
                        <a:t>Total de noches (total_nights)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555555"/>
                          </a:solidFill>
                        </a:rPr>
                        <a:t>Noches de semana + noches de finde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555555"/>
                          </a:solidFill>
                        </a:rPr>
                        <a:t>Saber cuanto se queda cada huesped</a:t>
                      </a:r>
                    </a:p>
                  </a:txBody>
                  <a:tcPr/>
                </a:tc>
              </a:tr>
              <a:tr h="6096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555555"/>
                          </a:solidFill>
                        </a:rPr>
                        <a:t>Total de huespedes (total_guests)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555555"/>
                          </a:solidFill>
                        </a:rPr>
                        <a:t>Adultos + ninios + bebes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555555"/>
                          </a:solidFill>
                        </a:rPr>
                        <a:t>Detectar reservas sin nadie (errores)</a:t>
                      </a:r>
                    </a:p>
                  </a:txBody>
                  <a:tcPr/>
                </a:tc>
              </a:tr>
              <a:tr h="6096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555555"/>
                          </a:solidFill>
                        </a:rPr>
                        <a:t>Mes ordenado (arrival_date_month)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555555"/>
                          </a:solidFill>
                        </a:rPr>
                        <a:t>Convertir el mes para que respete el orden del calendario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555555"/>
                          </a:solidFill>
                        </a:rPr>
                        <a:t>Que los graficos por mes salgan de enero a diciembre</a:t>
                      </a:r>
                    </a:p>
                  </a:txBody>
                  <a:tcPr/>
                </a:tc>
              </a:tr>
              <a:tr h="6096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555555"/>
                          </a:solidFill>
                        </a:rPr>
                        <a:t>Rangos de anticipacion (lead_time_bin)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555555"/>
                          </a:solidFill>
                        </a:rPr>
                        <a:t>Agrupar los dias en: 0-7, 8-30, 31-90...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555555"/>
                          </a:solidFill>
                        </a:rPr>
                        <a:t>Mostrar el patron en barras claras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0"/>
            <a:ext cx="18288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0" b="1">
                <a:solidFill>
                  <a:srgbClr val="2E86AB"/>
                </a:solidFill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0" y="2926080"/>
            <a:ext cx="8686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Mirando los datos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91440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¿Como se distribuyen las tres variables clave?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784080" y="228600"/>
            <a:ext cx="2194560" cy="457200"/>
          </a:xfrm>
          <a:prstGeom prst="round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</a:rPr>
              <a:t>Histograma</a:t>
            </a:r>
          </a:p>
        </p:txBody>
      </p:sp>
      <p:pic>
        <p:nvPicPr>
          <p:cNvPr id="5" name="Picture 4" descr="cell_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005840"/>
            <a:ext cx="11064240" cy="300173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4297680"/>
            <a:ext cx="11064240" cy="228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>
                <a:solidFill>
                  <a:srgbClr val="555555"/>
                </a:solidFill>
              </a:rPr>
              <a:t>• Dias de anticipacion: la mayoria reserva con poco tiempo, pero unos pocos lo hacen con muchos meses</a:t>
            </a:r>
          </a:p>
          <a:p>
            <a:pPr algn="l"/>
            <a:r>
              <a:rPr sz="1500" b="0">
                <a:solidFill>
                  <a:srgbClr val="555555"/>
                </a:solidFill>
              </a:rPr>
              <a:t>• Precio por noche: casi todo entre 50 y 150 €, con algunos casos premium mucho mas caros</a:t>
            </a:r>
          </a:p>
          <a:p>
            <a:pPr algn="l"/>
            <a:r>
              <a:rPr sz="1500" b="0">
                <a:solidFill>
                  <a:srgbClr val="555555"/>
                </a:solidFill>
              </a:rPr>
              <a:t>• Cuanto se quedan: estadias cortas (1 a 4 noches), pocas largas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91440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Comparando los dos hoteles y las cancelaciones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784080" y="228600"/>
            <a:ext cx="2194560" cy="457200"/>
          </a:xfrm>
          <a:prstGeom prst="round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</a:rPr>
              <a:t>Boxplot</a:t>
            </a:r>
          </a:p>
        </p:txBody>
      </p:sp>
      <p:pic>
        <p:nvPicPr>
          <p:cNvPr id="5" name="Picture 4" descr="cell_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005840"/>
            <a:ext cx="11064240" cy="300173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4297680"/>
            <a:ext cx="11064240" cy="228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>
                <a:solidFill>
                  <a:srgbClr val="555555"/>
                </a:solidFill>
              </a:rPr>
              <a:t>• Hay algunos precios muy altos en ambos hoteles (casos raros)</a:t>
            </a:r>
          </a:p>
          <a:p>
            <a:pPr algn="l"/>
            <a:r>
              <a:rPr sz="1500" b="0">
                <a:solidFill>
                  <a:srgbClr val="555555"/>
                </a:solidFill>
              </a:rPr>
              <a:t>• En el Resort la gente reserva con mas anticipacion (logico: las vacaciones se planean)</a:t>
            </a:r>
          </a:p>
          <a:p>
            <a:pPr algn="l"/>
            <a:r>
              <a:rPr sz="1500" b="0">
                <a:solidFill>
                  <a:srgbClr val="555555"/>
                </a:solidFill>
              </a:rPr>
              <a:t>• PISTA IMPORTANTE: las reservas que se cancelan tienen MAS dias de anticipacion en promedio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91440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¿Hay relacion entre las variables?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784080" y="228600"/>
            <a:ext cx="2194560" cy="457200"/>
          </a:xfrm>
          <a:prstGeom prst="round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</a:rPr>
              <a:t>Nube de puntos</a:t>
            </a:r>
          </a:p>
        </p:txBody>
      </p:sp>
      <p:pic>
        <p:nvPicPr>
          <p:cNvPr id="5" name="Picture 4" descr="cell_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05840"/>
            <a:ext cx="10698480" cy="394438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5029200"/>
            <a:ext cx="1106424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>
                <a:solidFill>
                  <a:srgbClr val="555555"/>
                </a:solidFill>
              </a:rPr>
              <a:t>• Izquierda: los puntos naranjas (canceladas) tienden a estar mas a la derecha = mas anticipacion</a:t>
            </a:r>
          </a:p>
          <a:p>
            <a:pPr algn="l"/>
            <a:r>
              <a:rPr sz="1500" b="0">
                <a:solidFill>
                  <a:srgbClr val="555555"/>
                </a:solidFill>
              </a:rPr>
              <a:t>• Derecha: el Resort acepta estadias mas largas; en el de ciudad la gente se queda poco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91440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Mapa de relaciones entre todas las variables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784080" y="228600"/>
            <a:ext cx="2194560" cy="457200"/>
          </a:xfrm>
          <a:prstGeom prst="round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</a:rPr>
              <a:t>Mapa de calor</a:t>
            </a:r>
          </a:p>
        </p:txBody>
      </p:sp>
      <p:pic>
        <p:nvPicPr>
          <p:cNvPr id="5" name="Picture 4" descr="cell_2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0" y="1005840"/>
            <a:ext cx="6354278" cy="46634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65760" y="5852160"/>
            <a:ext cx="114300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E76F51"/>
                </a:solidFill>
              </a:rPr>
              <a:t>Las cosas que mas predicen cancelacion: mucha anticipacion (+), pocos pedidos especiales (-), no pedir estacionamiento (-), historial de cancelaciones previas (+).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0"/>
            <a:ext cx="18288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0" b="1">
                <a:solidFill>
                  <a:srgbClr val="2E86AB"/>
                </a:solidFill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0" y="2926080"/>
            <a:ext cx="8686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Las cinco respuestas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91440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¿Booking o reservas directas? ¿Quien cancela mas?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784080" y="228600"/>
            <a:ext cx="2194560" cy="457200"/>
          </a:xfrm>
          <a:prstGeom prst="round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</a:rPr>
              <a:t>Barras</a:t>
            </a:r>
          </a:p>
        </p:txBody>
      </p:sp>
      <p:pic>
        <p:nvPicPr>
          <p:cNvPr id="5" name="Picture 4" descr="cell_3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05840"/>
            <a:ext cx="7772400" cy="347033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03920" y="100584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F3A5F"/>
                </a:solidFill>
              </a:rPr>
              <a:t>LO QUE ENCONTRAMOS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1417320"/>
            <a:ext cx="347472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</a:rPr>
              <a:t>En Booking y similares</a:t>
            </a:r>
          </a:p>
          <a:p>
            <a:pPr algn="l"/>
            <a:r>
              <a:rPr sz="1300" b="0">
                <a:solidFill>
                  <a:srgbClr val="333333"/>
                </a:solidFill>
              </a:rPr>
              <a:t>(Online TA): cancela ~35%.</a:t>
            </a:r>
          </a:p>
          <a:p>
            <a:pPr algn="l"/>
            <a:r>
              <a:rPr sz="1300" b="0">
                <a:solidFill>
                  <a:srgbClr val="333333"/>
                </a:solidFill>
              </a:rPr>
              <a:t/>
            </a:r>
          </a:p>
          <a:p>
            <a:pPr algn="l"/>
            <a:r>
              <a:rPr sz="1300" b="0">
                <a:solidFill>
                  <a:srgbClr val="333333"/>
                </a:solidFill>
              </a:rPr>
              <a:t>Reservando directo: ~15%.</a:t>
            </a:r>
          </a:p>
          <a:p>
            <a:pPr algn="l"/>
            <a:r>
              <a:rPr sz="1300" b="0">
                <a:solidFill>
                  <a:srgbClr val="333333"/>
                </a:solidFill>
              </a:rPr>
              <a:t/>
            </a:r>
          </a:p>
          <a:p>
            <a:pPr algn="l"/>
            <a:r>
              <a:rPr sz="1300" b="0">
                <a:solidFill>
                  <a:srgbClr val="333333"/>
                </a:solidFill>
              </a:rPr>
              <a:t>Empresas (corporate): ~12%.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320040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F3A5F"/>
                </a:solidFill>
              </a:rPr>
              <a:t>POR QUE PASA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3611880"/>
            <a:ext cx="347472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555555"/>
                </a:solidFill>
              </a:rPr>
              <a:t>Reservar por Booking es facil y sin compromiso: pocos clics. Reservar directo implica mas vinculo.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0" y="502920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F3A5F"/>
                </a:solidFill>
              </a:rPr>
              <a:t>QUE PODEMOS HACER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5440680"/>
            <a:ext cx="347472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2A9D8F"/>
                </a:solidFill>
              </a:rPr>
              <a:t>Repensar cuanto nos conviene apoyarnos en Booking: la comision se "come" parte del precio Y ademas perdemos 1 de cada 3.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91440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¿Los que piden cosas especiales cancelan menos?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784080" y="228600"/>
            <a:ext cx="2194560" cy="457200"/>
          </a:xfrm>
          <a:prstGeom prst="round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</a:rPr>
              <a:t>Barras</a:t>
            </a:r>
          </a:p>
        </p:txBody>
      </p:sp>
      <p:pic>
        <p:nvPicPr>
          <p:cNvPr id="5" name="Picture 4" descr="cell_3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05840"/>
            <a:ext cx="7772400" cy="382301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03920" y="100584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F3A5F"/>
                </a:solidFill>
              </a:rPr>
              <a:t>LO QUE ENCONTRAMOS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1417320"/>
            <a:ext cx="347472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</a:rPr>
              <a:t>Sin pedidos: cancela 1 de cada 3.</a:t>
            </a:r>
          </a:p>
          <a:p>
            <a:pPr algn="l"/>
            <a:r>
              <a:rPr sz="1300" b="0">
                <a:solidFill>
                  <a:srgbClr val="333333"/>
                </a:solidFill>
              </a:rPr>
              <a:t>Con 1 pedido: 1 de cada 5.</a:t>
            </a:r>
          </a:p>
          <a:p>
            <a:pPr algn="l"/>
            <a:r>
              <a:rPr sz="1300" b="0">
                <a:solidFill>
                  <a:srgbClr val="333333"/>
                </a:solidFill>
              </a:rPr>
              <a:t>Con 5 pedidos: solo 1 de cada 17.</a:t>
            </a:r>
          </a:p>
          <a:p>
            <a:pPr algn="l"/>
            <a:r>
              <a:rPr sz="1300" b="0">
                <a:solidFill>
                  <a:srgbClr val="333333"/>
                </a:solidFill>
              </a:rPr>
              <a:t/>
            </a:r>
          </a:p>
          <a:p>
            <a:pPr algn="l"/>
            <a:r>
              <a:rPr sz="1300" b="0">
                <a:solidFill>
                  <a:srgbClr val="333333"/>
                </a:solidFill>
              </a:rPr>
              <a:t>Cuantos mas pedidos, menos cancela.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320040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F3A5F"/>
                </a:solidFill>
              </a:rPr>
              <a:t>POR QUE PASA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3611880"/>
            <a:ext cx="347472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555555"/>
                </a:solidFill>
              </a:rPr>
              <a:t>Si alguien se tomo el trabajo de pedir cuna, vista o tipo de cama, esta comprometido con el viaje.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0" y="502920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F3A5F"/>
                </a:solidFill>
              </a:rPr>
              <a:t>QUE PODEMOS HACER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5440680"/>
            <a:ext cx="347472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2A9D8F"/>
                </a:solidFill>
              </a:rPr>
              <a:t>Cuando entra una reserva sin ningun pedido especial, mandarle un recordatorio o pedirle que confirme.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91440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¿Reservar con anticipacion aumenta las cancelaciones?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784080" y="228600"/>
            <a:ext cx="2194560" cy="457200"/>
          </a:xfrm>
          <a:prstGeom prst="round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</a:rPr>
              <a:t>Barras</a:t>
            </a:r>
          </a:p>
        </p:txBody>
      </p:sp>
      <p:pic>
        <p:nvPicPr>
          <p:cNvPr id="5" name="Picture 4" descr="cell_3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05840"/>
            <a:ext cx="7772400" cy="382301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03920" y="100584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F3A5F"/>
                </a:solidFill>
              </a:rPr>
              <a:t>LO QUE ENCONTRAMOS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1417320"/>
            <a:ext cx="347472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</a:rPr>
              <a:t>Reservas a 1 semana: cancela 8%.</a:t>
            </a:r>
          </a:p>
          <a:p>
            <a:pPr algn="l"/>
            <a:r>
              <a:rPr sz="1300" b="0">
                <a:solidFill>
                  <a:srgbClr val="333333"/>
                </a:solidFill>
              </a:rPr>
              <a:t>Reservas a 3 meses: 30%.</a:t>
            </a:r>
          </a:p>
          <a:p>
            <a:pPr algn="l"/>
            <a:r>
              <a:rPr sz="1300" b="0">
                <a:solidFill>
                  <a:srgbClr val="333333"/>
                </a:solidFill>
              </a:rPr>
              <a:t>Reservas a 6 meses: 41%.</a:t>
            </a:r>
          </a:p>
          <a:p>
            <a:pPr algn="l"/>
            <a:r>
              <a:rPr sz="1300" b="0">
                <a:solidFill>
                  <a:srgbClr val="333333"/>
                </a:solidFill>
              </a:rPr>
              <a:t>Reservas a 1+ anio: mas del 40%.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320040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F3A5F"/>
                </a:solidFill>
              </a:rPr>
              <a:t>POR QUE PASA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3611880"/>
            <a:ext cx="347472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555555"/>
                </a:solidFill>
              </a:rPr>
              <a:t>A mayor tiempo entre reserva y viaje, mas chances de que algo cambie (trabajo, salud, plata).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0" y="502920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F3A5F"/>
                </a:solidFill>
              </a:rPr>
              <a:t>QUE PODEMOS HACER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5440680"/>
            <a:ext cx="347472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2A9D8F"/>
                </a:solidFill>
              </a:rPr>
              <a:t>Para reservas hechas con mucha anticipacion, vender un poquito mas (overbooking) sabiendo que parte va a cancelar.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91440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¿Los clientes que ya vinieron cancelan menos?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784080" y="228600"/>
            <a:ext cx="2194560" cy="457200"/>
          </a:xfrm>
          <a:prstGeom prst="round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</a:rPr>
              <a:t>Torta</a:t>
            </a:r>
          </a:p>
        </p:txBody>
      </p:sp>
      <p:pic>
        <p:nvPicPr>
          <p:cNvPr id="5" name="Picture 4" descr="cell_3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1005840"/>
            <a:ext cx="4418263" cy="4572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03920" y="100584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F3A5F"/>
                </a:solidFill>
              </a:rPr>
              <a:t>LO QUE ENCONTRAMOS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1417320"/>
            <a:ext cx="347472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</a:rPr>
              <a:t>Clientes nuevos: cancela 28%.</a:t>
            </a:r>
          </a:p>
          <a:p>
            <a:pPr algn="l"/>
            <a:r>
              <a:rPr sz="1300" b="0">
                <a:solidFill>
                  <a:srgbClr val="333333"/>
                </a:solidFill>
              </a:rPr>
              <a:t>Clientes que repiten: solo 8%.</a:t>
            </a:r>
          </a:p>
          <a:p>
            <a:pPr algn="l"/>
            <a:r>
              <a:rPr sz="1300" b="0">
                <a:solidFill>
                  <a:srgbClr val="333333"/>
                </a:solidFill>
              </a:rPr>
              <a:t/>
            </a:r>
          </a:p>
          <a:p>
            <a:pPr algn="l"/>
            <a:r>
              <a:rPr sz="1300" b="0">
                <a:solidFill>
                  <a:srgbClr val="333333"/>
                </a:solidFill>
              </a:rPr>
              <a:t>Los repetidos cancelan 3,5 veces menos.</a:t>
            </a:r>
          </a:p>
          <a:p>
            <a:pPr algn="l"/>
            <a:r>
              <a:rPr sz="1300" b="0">
                <a:solidFill>
                  <a:srgbClr val="333333"/>
                </a:solidFill>
              </a:rPr>
              <a:t/>
            </a:r>
          </a:p>
          <a:p>
            <a:pPr algn="l"/>
            <a:r>
              <a:rPr sz="1300" b="0">
                <a:solidFill>
                  <a:srgbClr val="333333"/>
                </a:solidFill>
              </a:rPr>
              <a:t>Pero son solo el 4% del total.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320040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F3A5F"/>
                </a:solidFill>
              </a:rPr>
              <a:t>POR QUE PASA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3611880"/>
            <a:ext cx="347472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555555"/>
                </a:solidFill>
              </a:rPr>
              <a:t>El cliente que ya estuvo, conoce, le gusto y vuelve con intencion firme.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0" y="502920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F3A5F"/>
                </a:solidFill>
              </a:rPr>
              <a:t>QUE PODEMOS HACER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5440680"/>
            <a:ext cx="347472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2A9D8F"/>
                </a:solidFill>
              </a:rPr>
              <a:t>Invertir en programas de fidelidad (puntos, beneficios). Convertir un nuevo en repetido es muy rentable.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91440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¿Los precios cambian segun la epoca del anio?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784080" y="228600"/>
            <a:ext cx="2194560" cy="457200"/>
          </a:xfrm>
          <a:prstGeom prst="round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</a:rPr>
              <a:t>Lineas</a:t>
            </a:r>
          </a:p>
        </p:txBody>
      </p:sp>
      <p:pic>
        <p:nvPicPr>
          <p:cNvPr id="5" name="Picture 4" descr="cell_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05840"/>
            <a:ext cx="7772400" cy="383368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03920" y="100584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F3A5F"/>
                </a:solidFill>
              </a:rPr>
              <a:t>LO QUE ENCONTRAMOS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1417320"/>
            <a:ext cx="347472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</a:rPr>
              <a:t>Resort (playa):</a:t>
            </a:r>
          </a:p>
          <a:p>
            <a:pPr algn="l"/>
            <a:r>
              <a:rPr sz="1300" b="0">
                <a:solidFill>
                  <a:srgbClr val="333333"/>
                </a:solidFill>
              </a:rPr>
              <a:t>  noviembre 49 €  →  agosto 188 €</a:t>
            </a:r>
          </a:p>
          <a:p>
            <a:pPr algn="l"/>
            <a:r>
              <a:rPr sz="1300" b="0">
                <a:solidFill>
                  <a:srgbClr val="333333"/>
                </a:solidFill>
              </a:rPr>
              <a:t>  (casi 4 veces mas)</a:t>
            </a:r>
          </a:p>
          <a:p>
            <a:pPr algn="l"/>
            <a:r>
              <a:rPr sz="1300" b="0">
                <a:solidFill>
                  <a:srgbClr val="333333"/>
                </a:solidFill>
              </a:rPr>
              <a:t/>
            </a:r>
          </a:p>
          <a:p>
            <a:pPr algn="l"/>
            <a:r>
              <a:rPr sz="1300" b="0">
                <a:solidFill>
                  <a:srgbClr val="333333"/>
                </a:solidFill>
              </a:rPr>
              <a:t>Hotel de ciudad:</a:t>
            </a:r>
          </a:p>
          <a:p>
            <a:pPr algn="l"/>
            <a:r>
              <a:rPr sz="1300" b="0">
                <a:solidFill>
                  <a:srgbClr val="333333"/>
                </a:solidFill>
              </a:rPr>
              <a:t>  enero 85 € → mayo 128 €</a:t>
            </a:r>
          </a:p>
          <a:p>
            <a:pPr algn="l"/>
            <a:r>
              <a:rPr sz="1300" b="0">
                <a:solidFill>
                  <a:srgbClr val="333333"/>
                </a:solidFill>
              </a:rPr>
              <a:t>  (mucho mas estable)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320040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F3A5F"/>
                </a:solidFill>
              </a:rPr>
              <a:t>POR QUE PASA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3611880"/>
            <a:ext cx="347472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555555"/>
                </a:solidFill>
              </a:rPr>
              <a:t>El Resort tiene temporada alta y baja muy marcadas. El de ciudad mantiene un publico mas estable todo el anio.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0" y="502920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F3A5F"/>
                </a:solidFill>
              </a:rPr>
              <a:t>QUE PODEMOS HACER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5440680"/>
            <a:ext cx="347472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2A9D8F"/>
                </a:solidFill>
              </a:rPr>
              <a:t>Resort: cobrar fuerte en verano y armar promociones para meses flojos. Ciudad: tarifas mas parejas y paquetes corporativos.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0"/>
            <a:ext cx="18288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0" b="1">
                <a:solidFill>
                  <a:srgbClr val="2E86AB"/>
                </a:solidFill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0" y="2926080"/>
            <a:ext cx="8686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Que aprendimos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91440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¿Como es la reserva mas "riesgosa"?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0">
                <a:solidFill>
                  <a:srgbClr val="555555"/>
                </a:solidFill>
              </a:rPr>
              <a:t>Si una reserva cumple todo esto a la vez, es casi seguro que se va a cancelar: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011680"/>
            <a:ext cx="1005840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90000"/>
              </a:lnSpc>
            </a:pPr>
            <a:r>
              <a:rPr sz="2200">
                <a:solidFill>
                  <a:srgbClr val="555555"/>
                </a:solidFill>
              </a:rPr>
              <a:t>•  Se hizo por Booking, Expedia o similar</a:t>
            </a:r>
          </a:p>
          <a:p>
            <a:pPr>
              <a:lnSpc>
                <a:spcPct val="190000"/>
              </a:lnSpc>
            </a:pPr>
            <a:r>
              <a:rPr sz="2200">
                <a:solidFill>
                  <a:srgbClr val="555555"/>
                </a:solidFill>
              </a:rPr>
              <a:t>•  Sin ningun pedido especial</a:t>
            </a:r>
          </a:p>
          <a:p>
            <a:pPr>
              <a:lnSpc>
                <a:spcPct val="190000"/>
              </a:lnSpc>
            </a:pPr>
            <a:r>
              <a:rPr sz="2200">
                <a:solidFill>
                  <a:srgbClr val="555555"/>
                </a:solidFill>
              </a:rPr>
              <a:t>•  Con mucha anticipacion (mas de 6 meses)</a:t>
            </a:r>
          </a:p>
          <a:p>
            <a:pPr>
              <a:lnSpc>
                <a:spcPct val="190000"/>
              </a:lnSpc>
            </a:pPr>
            <a:r>
              <a:rPr sz="2200">
                <a:solidFill>
                  <a:srgbClr val="555555"/>
                </a:solidFill>
              </a:rPr>
              <a:t>•  El cliente es nuevo (nunca se hospedo antes)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577840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E76F51"/>
                </a:solidFill>
              </a:rPr>
              <a:t>Esto se cancela mucho mas que el promedio del 27%. Es la reserva que mas hay que vigilar.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91440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Que se puede hacer con esto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9728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65000"/>
              </a:lnSpc>
            </a:pPr>
            <a:r>
              <a:rPr sz="1800">
                <a:solidFill>
                  <a:srgbClr val="555555"/>
                </a:solidFill>
              </a:rPr>
              <a:t>•  Vender un poco mas de la capacidad cuando hay mucha anticipacion via Booking</a:t>
            </a:r>
          </a:p>
          <a:p>
            <a:pPr>
              <a:lnSpc>
                <a:spcPct val="165000"/>
              </a:lnSpc>
            </a:pPr>
            <a:r>
              <a:rPr sz="1800">
                <a:solidFill>
                  <a:srgbClr val="555555"/>
                </a:solidFill>
              </a:rPr>
              <a:t>•  Armar programa de fidelidad fuerte: el cliente que vuelve cancela 3 veces menos</a:t>
            </a:r>
          </a:p>
          <a:p>
            <a:pPr>
              <a:lnSpc>
                <a:spcPct val="165000"/>
              </a:lnSpc>
            </a:pPr>
            <a:r>
              <a:rPr sz="1800">
                <a:solidFill>
                  <a:srgbClr val="555555"/>
                </a:solidFill>
              </a:rPr>
              <a:t>•  Mandar recordatorios automaticos a reservas sin pedidos especiales</a:t>
            </a:r>
          </a:p>
          <a:p>
            <a:pPr>
              <a:lnSpc>
                <a:spcPct val="165000"/>
              </a:lnSpc>
            </a:pPr>
            <a:r>
              <a:rPr sz="1800">
                <a:solidFill>
                  <a:srgbClr val="555555"/>
                </a:solidFill>
              </a:rPr>
              <a:t>•  Subir precios en verano (sobre todo en el Resort) y bajar para llenar en temporada baja</a:t>
            </a:r>
          </a:p>
          <a:p>
            <a:pPr>
              <a:lnSpc>
                <a:spcPct val="165000"/>
              </a:lnSpc>
            </a:pPr>
            <a:r>
              <a:rPr sz="1800">
                <a:solidFill>
                  <a:srgbClr val="555555"/>
                </a:solidFill>
              </a:rPr>
              <a:t>•  Pensar paquetes corporativos y de fin de semana para llenar el hotel de ciudad cuando esta flojo</a:t>
            </a:r>
          </a:p>
          <a:p>
            <a:pPr>
              <a:lnSpc>
                <a:spcPct val="165000"/>
              </a:lnSpc>
            </a:pPr>
            <a:r>
              <a:rPr sz="1800">
                <a:solidFill>
                  <a:srgbClr val="555555"/>
                </a:solidFill>
              </a:rPr>
              <a:t>•  Revisar si Booking nos conviene tanto: ademas de la comision, perdemos 1 de cada 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91440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Lo que nos llevamos del proceso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9728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60000"/>
              </a:lnSpc>
            </a:pPr>
            <a:r>
              <a:rPr sz="1700">
                <a:solidFill>
                  <a:srgbClr val="555555"/>
                </a:solidFill>
              </a:rPr>
              <a:t>•  Limpiar los datos fue tan importante como analizarlos: 27% duplicados, 94% de "empresa" vacia</a:t>
            </a:r>
          </a:p>
          <a:p>
            <a:pPr>
              <a:lnSpc>
                <a:spcPct val="160000"/>
              </a:lnSpc>
            </a:pPr>
            <a:r>
              <a:rPr sz="1700">
                <a:solidFill>
                  <a:srgbClr val="555555"/>
                </a:solidFill>
              </a:rPr>
              <a:t>•  No todo "vacio" es un dato faltante: a veces significa "no aplica" y hay que entenderlo</a:t>
            </a:r>
          </a:p>
          <a:p>
            <a:pPr>
              <a:lnSpc>
                <a:spcPct val="160000"/>
              </a:lnSpc>
            </a:pPr>
            <a:r>
              <a:rPr sz="1700">
                <a:solidFill>
                  <a:srgbClr val="555555"/>
                </a:solidFill>
              </a:rPr>
              <a:t>•  Las columnas calculadas (fecha unica, total de noches, etc.) ahorran mucho trabajo</a:t>
            </a:r>
          </a:p>
          <a:p>
            <a:pPr>
              <a:lnSpc>
                <a:spcPct val="160000"/>
              </a:lnSpc>
            </a:pPr>
            <a:r>
              <a:rPr sz="1700">
                <a:solidFill>
                  <a:srgbClr val="555555"/>
                </a:solidFill>
              </a:rPr>
              <a:t>•  Un buen grafico cuenta una historia que los numeros solos no muestran tan claro</a:t>
            </a:r>
          </a:p>
          <a:p>
            <a:pPr>
              <a:lnSpc>
                <a:spcPct val="160000"/>
              </a:lnSpc>
            </a:pPr>
            <a:r>
              <a:rPr sz="1700">
                <a:solidFill>
                  <a:srgbClr val="555555"/>
                </a:solidFill>
              </a:rPr>
              <a:t>•  Cada pregunta se eligio para poder TOMAR UNA DECISION, no por curiosidad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560320"/>
            <a:ext cx="1069848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7200" b="1">
                <a:solidFill>
                  <a:srgbClr val="FFFFFF"/>
                </a:solidFill>
              </a:rPr>
              <a:t>Gracias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931920"/>
            <a:ext cx="106984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800" b="0">
                <a:solidFill>
                  <a:srgbClr val="CCDDEE"/>
                </a:solidFill>
              </a:rPr>
              <a:t>¿Preguntas?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99AABB"/>
                </a:solidFill>
              </a:rPr>
              <a:t>Marcelo Vieira  |  TP1 — Hotel Bookings  |  Diplomatura IA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